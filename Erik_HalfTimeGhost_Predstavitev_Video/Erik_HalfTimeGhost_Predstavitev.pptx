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</p:sldIdLst>
  <p:sldSz cx="12192000" cy="6858000"/>
  <p:notesSz cx="6858000" cy="9144000"/>
  <p:embeddedFontLst>
    <p:embeddedFont>
      <p:font typeface="Cinzel"/>
      <p:bold r:id="rId10"/>
    </p:embeddedFont>
    <p:embeddedFont>
      <p:font typeface="JetBrains Mono"/>
      <p:regular r:id="rId11"/>
    </p:embeddedFont>
    <p:embeddedFont>
      <p:font typeface="Plus Jakarta Sans"/>
      <p: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6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452812" y="3907482"/>
            <a:ext cx="5286375" cy="714375"/>
          </a:xfrm>
          <a:prstGeom prst="roundRect">
            <a:avLst>
              <a:gd name="adj" fmla="val 16000"/>
            </a:avLst>
          </a:prstGeom>
          <a:solidFill>
            <a:srgbClr val="120D1A"/>
          </a:solidFill>
          <a:ln w="9525">
            <a:solidFill>
              <a:srgbClr val="1F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02354" y="1890379"/>
            <a:ext cx="1609725" cy="266700"/>
          </a:xfrm>
          <a:prstGeom prst="roundRect">
            <a:avLst>
              <a:gd name="adj" fmla="val 50000"/>
            </a:avLst>
          </a:prstGeom>
          <a:solidFill>
            <a:srgbClr val="2F1613"/>
          </a:solidFill>
          <a:ln w="9525">
            <a:solidFill>
              <a:srgbClr val="6A3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48337" y="4088457"/>
            <a:ext cx="9525" cy="35242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64030" y="2259657"/>
            <a:ext cx="5263942" cy="8309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lang="en-US" sz="5400" b="1" dirty="0">
                <a:solidFill>
                  <a:srgbClr val="FAFAFA"/>
                </a:solidFill>
                <a:latin typeface="Cinzel"/>
              </a:rPr>
              <a:t>HALF TIME GHOST</a:t>
            </a:r>
            <a:endParaRPr sz="5400" b="1" i="0" u="none" dirty="0">
              <a:solidFill>
                <a:srgbClr val="FAFAFA"/>
              </a:solidFill>
              <a:latin typeface="Cinze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34488" y="1942937"/>
            <a:ext cx="17454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50" b="1" i="0" u="none" dirty="0">
                <a:solidFill>
                  <a:srgbClr val="F97316"/>
                </a:solidFill>
                <a:latin typeface="Plus Jakarta Sans"/>
              </a:rPr>
              <a:t>UNITY/ C#</a:t>
            </a:r>
            <a:endParaRPr sz="1050" b="1" i="0" u="none" dirty="0">
              <a:solidFill>
                <a:srgbClr val="F97316"/>
              </a:solidFill>
              <a:latin typeface="Plus Jakarta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64030" y="4079973"/>
            <a:ext cx="52863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800" b="0" i="0" u="none" dirty="0">
                <a:solidFill>
                  <a:schemeClr val="bg1"/>
                </a:solidFill>
                <a:latin typeface="JetBrains Mono"/>
              </a:rPr>
              <a:t>ERIK OPREŠNIK HERCOG</a:t>
            </a:r>
            <a:endParaRPr sz="2800" b="0" i="0" u="none" dirty="0">
              <a:solidFill>
                <a:schemeClr val="bg1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05214"/>
            <a:ext cx="10972800" cy="852785"/>
          </a:xfrm>
          <a:prstGeom prst="rect">
            <a:avLst/>
          </a:prstGeom>
          <a:solidFill>
            <a:srgbClr val="0D0B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2350144"/>
            <a:ext cx="5324475" cy="781050"/>
          </a:xfrm>
          <a:prstGeom prst="rect">
            <a:avLst/>
          </a:prstGeom>
          <a:solidFill>
            <a:srgbClr val="130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3283594"/>
            <a:ext cx="5324475" cy="781050"/>
          </a:xfrm>
          <a:prstGeom prst="rect">
            <a:avLst/>
          </a:prstGeom>
          <a:solidFill>
            <a:srgbClr val="17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4217044"/>
            <a:ext cx="5324475" cy="781050"/>
          </a:xfrm>
          <a:prstGeom prst="rect">
            <a:avLst/>
          </a:prstGeom>
          <a:solidFill>
            <a:srgbClr val="0B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2350144"/>
            <a:ext cx="38100" cy="781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9600" y="3283594"/>
            <a:ext cx="38100" cy="78105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4217044"/>
            <a:ext cx="38100" cy="78105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"/>
            <a:ext cx="5276850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97316"/>
                </a:solidFill>
                <a:latin typeface="Plus Jakarta Sans"/>
              </a:rPr>
              <a:t>01 / KONCEPT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19125"/>
            <a:ext cx="680085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8FAFC"/>
                </a:solidFill>
                <a:latin typeface="Cinzel"/>
              </a:rPr>
              <a:t>Ideja in interpretacija teme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2521594"/>
            <a:ext cx="68634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dirty="0" err="1">
                <a:solidFill>
                  <a:srgbClr val="F8FAFC"/>
                </a:solidFill>
                <a:latin typeface="Plus Jakarta Sans"/>
              </a:rPr>
              <a:t>P</a:t>
            </a:r>
            <a:r>
              <a:rPr sz="1350" b="1" i="0" u="none" dirty="0" err="1">
                <a:solidFill>
                  <a:srgbClr val="F8FAFC"/>
                </a:solidFill>
                <a:latin typeface="Plus Jakarta Sans"/>
              </a:rPr>
              <a:t>rizorišče</a:t>
            </a:r>
            <a:endParaRPr sz="1350" b="1" i="0" u="none" dirty="0">
              <a:solidFill>
                <a:srgbClr val="F8FAFC"/>
              </a:solidFill>
              <a:latin typeface="Plus Jakarta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7250" y="2778769"/>
            <a:ext cx="130003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Temačno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pokopališče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3455044"/>
            <a:ext cx="638829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F8FAFC"/>
                </a:solidFill>
                <a:latin typeface="Plus Jakarta Sans"/>
              </a:rPr>
              <a:t>Osrednji</a:t>
            </a:r>
            <a:r>
              <a:rPr sz="1350" b="1" i="0" u="none" dirty="0">
                <a:solidFill>
                  <a:srgbClr val="F8FAFC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Plus Jakarta Sans"/>
              </a:rPr>
              <a:t>cilj</a:t>
            </a:r>
            <a:endParaRPr sz="1350" b="1" i="0" u="none" dirty="0">
              <a:solidFill>
                <a:srgbClr val="F8FAFC"/>
              </a:solidFill>
              <a:latin typeface="Plus Jakarta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7250" y="3712219"/>
            <a:ext cx="608409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Raziskovanje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okolja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,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preživetje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ter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zbiranje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razpršenih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94A3B8"/>
                </a:solidFill>
                <a:latin typeface="Plus Jakarta Sans"/>
              </a:rPr>
              <a:t>buč</a:t>
            </a:r>
            <a:r>
              <a:rPr sz="1125" b="0" i="0" u="none" dirty="0">
                <a:solidFill>
                  <a:srgbClr val="94A3B8"/>
                </a:solidFill>
                <a:latin typeface="Plus Jakarta San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" y="4388494"/>
            <a:ext cx="111703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i="0" u="none" dirty="0" err="1">
                <a:solidFill>
                  <a:srgbClr val="F8FAFC"/>
                </a:solidFill>
                <a:latin typeface="Plus Jakarta Sans"/>
              </a:rPr>
              <a:t>Vključitev</a:t>
            </a:r>
            <a:r>
              <a:rPr lang="en-US" sz="1350" b="1" i="0" u="none" dirty="0">
                <a:solidFill>
                  <a:srgbClr val="F8FAFC"/>
                </a:solidFill>
                <a:latin typeface="Plus Jakarta Sans"/>
              </a:rPr>
              <a:t> </a:t>
            </a:r>
            <a:r>
              <a:rPr lang="en-US" sz="1350" b="1" i="0" u="none" dirty="0" err="1">
                <a:solidFill>
                  <a:srgbClr val="F8FAFC"/>
                </a:solidFill>
                <a:latin typeface="Plus Jakarta Sans"/>
              </a:rPr>
              <a:t>teme</a:t>
            </a:r>
            <a:endParaRPr sz="1350" b="1" i="0" u="none" dirty="0">
              <a:solidFill>
                <a:srgbClr val="F8FAFC"/>
              </a:solidFill>
              <a:latin typeface="Plus Jakarta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57250" y="4645669"/>
            <a:ext cx="3746218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125" dirty="0">
                <a:solidFill>
                  <a:srgbClr val="94A3B8"/>
                </a:solidFill>
                <a:latin typeface="Plus Jakarta Sans"/>
              </a:rPr>
              <a:t>Na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polju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lahko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igralec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hodi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skozi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zidove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okoli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vsakih</a:t>
            </a:r>
            <a:r>
              <a:rPr lang="en-US" sz="1125" dirty="0">
                <a:solidFill>
                  <a:srgbClr val="94A3B8"/>
                </a:solidFill>
                <a:latin typeface="Plus Jakarta Sans"/>
              </a:rPr>
              <a:t> 5-10 </a:t>
            </a:r>
            <a:r>
              <a:rPr lang="en-US" sz="1125" dirty="0" err="1">
                <a:solidFill>
                  <a:srgbClr val="94A3B8"/>
                </a:solidFill>
                <a:latin typeface="Plus Jakarta Sans"/>
              </a:rPr>
              <a:t>sekund</a:t>
            </a:r>
            <a:endParaRPr sz="1125" b="0" i="0" u="none" dirty="0">
              <a:solidFill>
                <a:srgbClr val="94A3B8"/>
              </a:solidFill>
              <a:latin typeface="Plus Jakarta Sans"/>
            </a:endParaRPr>
          </a:p>
        </p:txBody>
      </p:sp>
      <p:pic>
        <p:nvPicPr>
          <p:cNvPr id="25" name="Slika 24">
            <a:extLst>
              <a:ext uri="{FF2B5EF4-FFF2-40B4-BE49-F238E27FC236}">
                <a16:creationId xmlns:a16="http://schemas.microsoft.com/office/drawing/2014/main" id="{A472BAA6-A7B7-9AEA-8B74-B2473C0BF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70" y="1137940"/>
            <a:ext cx="5253280" cy="29537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2664469"/>
            <a:ext cx="4991100" cy="2019300"/>
          </a:xfrm>
          <a:prstGeom prst="roundRect">
            <a:avLst>
              <a:gd name="adj" fmla="val 5660"/>
            </a:avLst>
          </a:prstGeom>
          <a:solidFill>
            <a:srgbClr val="101014"/>
          </a:solidFill>
          <a:ln w="9525">
            <a:solidFill>
              <a:srgbClr val="5129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91300" y="2664469"/>
            <a:ext cx="4991100" cy="2019300"/>
          </a:xfrm>
          <a:prstGeom prst="roundRect">
            <a:avLst>
              <a:gd name="adj" fmla="val 5660"/>
            </a:avLst>
          </a:prstGeom>
          <a:solidFill>
            <a:srgbClr val="101014"/>
          </a:solidFill>
          <a:ln w="9525">
            <a:solidFill>
              <a:srgbClr val="392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450" y="2940694"/>
            <a:ext cx="533400" cy="533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37" y="3435994"/>
            <a:ext cx="238125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0" y="2940694"/>
            <a:ext cx="533400" cy="533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5137" y="3093094"/>
            <a:ext cx="200025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1125" y="3093094"/>
            <a:ext cx="17145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381000"/>
            <a:ext cx="5353050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A855F7"/>
                </a:solidFill>
                <a:latin typeface="Plus Jakarta Sans"/>
              </a:rPr>
              <a:t>02 / OSREDNJA MEHANIKA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9125"/>
            <a:ext cx="690086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8FAFC"/>
                </a:solidFill>
                <a:latin typeface="Cinzel"/>
              </a:rPr>
              <a:t>Preklapljanje med oblikama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285" y="3626494"/>
            <a:ext cx="582572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97316"/>
                </a:solidFill>
                <a:latin typeface="Plus Jakarta Sans"/>
              </a:rPr>
              <a:t>OBIČAJNA OBLIKA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993" y="3978919"/>
            <a:ext cx="554831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CBD5E1"/>
                </a:solidFill>
                <a:latin typeface="Plus Jakarta Sans"/>
              </a:rPr>
              <a:t>Osnovno stanje igralca na pokopališču.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9890" y="4236094"/>
            <a:ext cx="3550524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0" i="0" u="none" dirty="0">
                <a:solidFill>
                  <a:srgbClr val="EF4444"/>
                </a:solidFill>
                <a:latin typeface="Plus Jakarta Sans"/>
              </a:rPr>
              <a:t>• </a:t>
            </a:r>
            <a:r>
              <a:rPr lang="en-US" b="0" i="0" u="none" dirty="0" err="1">
                <a:solidFill>
                  <a:srgbClr val="EF4444"/>
                </a:solidFill>
                <a:latin typeface="Plus Jakarta Sans"/>
              </a:rPr>
              <a:t>Ostali</a:t>
            </a:r>
            <a:r>
              <a:rPr lang="en-US" b="0" i="0" u="none" dirty="0">
                <a:solidFill>
                  <a:srgbClr val="EF4444"/>
                </a:solidFill>
                <a:latin typeface="Plus Jakarta Sans"/>
              </a:rPr>
              <a:t> </a:t>
            </a:r>
            <a:r>
              <a:rPr lang="en-US" b="0" i="0" u="none" dirty="0" err="1">
                <a:solidFill>
                  <a:srgbClr val="EF4444"/>
                </a:solidFill>
                <a:latin typeface="Plus Jakarta Sans"/>
              </a:rPr>
              <a:t>duhovi</a:t>
            </a:r>
            <a:r>
              <a:rPr lang="en-US" b="0" i="0" u="none" dirty="0">
                <a:solidFill>
                  <a:srgbClr val="EF4444"/>
                </a:solidFill>
                <a:latin typeface="Plus Jakarta Sans"/>
              </a:rPr>
              <a:t> </a:t>
            </a:r>
            <a:r>
              <a:rPr b="0" i="0" u="none" dirty="0">
                <a:solidFill>
                  <a:srgbClr val="EF4444"/>
                </a:solidFill>
                <a:latin typeface="Plus Jakarta Sans"/>
              </a:rPr>
              <a:t>ga </a:t>
            </a:r>
            <a:r>
              <a:rPr b="0" i="0" u="none" dirty="0" err="1">
                <a:solidFill>
                  <a:srgbClr val="EF4444"/>
                </a:solidFill>
                <a:latin typeface="Plus Jakarta Sans"/>
              </a:rPr>
              <a:t>vidijo</a:t>
            </a:r>
            <a:r>
              <a:rPr b="0" i="0" u="none" dirty="0">
                <a:solidFill>
                  <a:srgbClr val="EF4444"/>
                </a:solidFill>
                <a:latin typeface="Plus Jakarta Sans"/>
              </a:rPr>
              <a:t> in </a:t>
            </a:r>
            <a:r>
              <a:rPr b="0" i="0" u="none" dirty="0" err="1">
                <a:solidFill>
                  <a:srgbClr val="EF4444"/>
                </a:solidFill>
                <a:latin typeface="Plus Jakarta Sans"/>
              </a:rPr>
              <a:t>zasledujejo</a:t>
            </a:r>
            <a:endParaRPr b="0" i="0" u="none" dirty="0">
              <a:solidFill>
                <a:srgbClr val="EF4444"/>
              </a:solidFill>
              <a:latin typeface="Plus Jakarta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29300" y="3778894"/>
            <a:ext cx="81915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A855F7"/>
                </a:solidFill>
                <a:latin typeface="JetBrains Mono"/>
              </a:rPr>
              <a:t>PREKLOP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3985" y="3626494"/>
            <a:ext cx="582572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A855F7"/>
                </a:solidFill>
                <a:latin typeface="Plus Jakarta Sans"/>
              </a:rPr>
              <a:t>DUHOVNA OBLIKA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2693" y="3978919"/>
            <a:ext cx="554831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CBD5E1"/>
                </a:solidFill>
                <a:latin typeface="Plus Jakarta Sans"/>
              </a:rPr>
              <a:t>Alternativno stanje za izogibanje nevarnosti.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567" y="4236094"/>
            <a:ext cx="384457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0" i="0" u="none" dirty="0">
                <a:solidFill>
                  <a:srgbClr val="22C55E"/>
                </a:solidFill>
                <a:latin typeface="Plus Jakarta Sans"/>
              </a:rPr>
              <a:t>• </a:t>
            </a:r>
            <a:r>
              <a:rPr lang="en-US" dirty="0" err="1">
                <a:solidFill>
                  <a:srgbClr val="22C55E"/>
                </a:solidFill>
                <a:latin typeface="Plus Jakarta Sans"/>
              </a:rPr>
              <a:t>Ostali</a:t>
            </a:r>
            <a:r>
              <a:rPr lang="en-US" dirty="0">
                <a:solidFill>
                  <a:srgbClr val="22C55E"/>
                </a:solidFill>
                <a:latin typeface="Plus Jakarta Sans"/>
              </a:rPr>
              <a:t> </a:t>
            </a:r>
            <a:r>
              <a:rPr lang="en-US" dirty="0" err="1">
                <a:solidFill>
                  <a:srgbClr val="22C55E"/>
                </a:solidFill>
                <a:latin typeface="Plus Jakarta Sans"/>
              </a:rPr>
              <a:t>duhovi</a:t>
            </a:r>
            <a:r>
              <a:rPr lang="en-US" dirty="0">
                <a:solidFill>
                  <a:srgbClr val="22C55E"/>
                </a:solidFill>
                <a:latin typeface="Plus Jakarta Sans"/>
              </a:rPr>
              <a:t> </a:t>
            </a:r>
            <a:r>
              <a:rPr lang="en-US" dirty="0" err="1">
                <a:solidFill>
                  <a:srgbClr val="22C55E"/>
                </a:solidFill>
                <a:latin typeface="Plus Jakarta Sans"/>
              </a:rPr>
              <a:t>igralca</a:t>
            </a:r>
            <a:r>
              <a:rPr lang="en-US" dirty="0">
                <a:solidFill>
                  <a:srgbClr val="22C55E"/>
                </a:solidFill>
                <a:latin typeface="Plus Jakarta Sans"/>
              </a:rPr>
              <a:t> </a:t>
            </a:r>
            <a:r>
              <a:rPr lang="en-US" dirty="0" err="1">
                <a:solidFill>
                  <a:srgbClr val="22C55E"/>
                </a:solidFill>
                <a:latin typeface="Plus Jakarta Sans"/>
              </a:rPr>
              <a:t>nehajo</a:t>
            </a:r>
            <a:r>
              <a:rPr lang="en-US" dirty="0">
                <a:solidFill>
                  <a:srgbClr val="22C55E"/>
                </a:solidFill>
                <a:latin typeface="Plus Jakarta Sans"/>
              </a:rPr>
              <a:t> </a:t>
            </a:r>
            <a:r>
              <a:rPr lang="en-US" dirty="0" err="1">
                <a:solidFill>
                  <a:srgbClr val="22C55E"/>
                </a:solidFill>
                <a:latin typeface="Plus Jakarta Sans"/>
              </a:rPr>
              <a:t>zasledovati</a:t>
            </a:r>
            <a:endParaRPr b="0" i="0" u="none" dirty="0">
              <a:solidFill>
                <a:srgbClr val="22C55E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1314450"/>
            <a:ext cx="3530649" cy="4132657"/>
          </a:xfrm>
          <a:prstGeom prst="roundRect">
            <a:avLst>
              <a:gd name="adj" fmla="val 4615"/>
            </a:avLst>
          </a:prstGeom>
          <a:solidFill>
            <a:srgbClr val="0E0E12"/>
          </a:solidFill>
          <a:ln w="19050">
            <a:solidFill>
              <a:srgbClr val="2E2E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0749" y="1314450"/>
            <a:ext cx="3530649" cy="4132657"/>
          </a:xfrm>
          <a:prstGeom prst="roundRect">
            <a:avLst>
              <a:gd name="adj" fmla="val 4615"/>
            </a:avLst>
          </a:prstGeom>
          <a:solidFill>
            <a:srgbClr val="0E0E12"/>
          </a:solidFill>
          <a:ln w="19050">
            <a:solidFill>
              <a:srgbClr val="392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51899" y="1314450"/>
            <a:ext cx="3530649" cy="4132657"/>
          </a:xfrm>
          <a:prstGeom prst="roundRect">
            <a:avLst>
              <a:gd name="adj" fmla="val 4615"/>
            </a:avLst>
          </a:prstGeom>
          <a:solidFill>
            <a:srgbClr val="0E0E12"/>
          </a:solidFill>
          <a:ln w="19050">
            <a:solidFill>
              <a:srgbClr val="5129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"/>
            <a:ext cx="404812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97316"/>
                </a:solidFill>
                <a:latin typeface="Plus Jakarta Sans"/>
              </a:rPr>
              <a:t>03 / POTEK IGRANJA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19125"/>
            <a:ext cx="5188148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8FAFC"/>
                </a:solidFill>
                <a:latin typeface="Cinzel"/>
              </a:rPr>
              <a:t>Igralna zanka in cilj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5706" y="4494052"/>
            <a:ext cx="247843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Pogled</a:t>
            </a:r>
            <a:r>
              <a:rPr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na</a:t>
            </a:r>
            <a:r>
              <a:rPr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igralno</a:t>
            </a:r>
            <a:r>
              <a:rPr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okolje</a:t>
            </a:r>
            <a:endParaRPr sz="20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8048" y="4462510"/>
            <a:ext cx="263495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Preklop</a:t>
            </a:r>
            <a:r>
              <a:rPr sz="2000" b="0" i="0" u="none" dirty="0">
                <a:solidFill>
                  <a:srgbClr val="64748B"/>
                </a:solidFill>
                <a:latin typeface="Plus Jakarta Sans"/>
              </a:rPr>
              <a:t> v </a:t>
            </a:r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duhovno</a:t>
            </a:r>
            <a:r>
              <a:rPr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obliko</a:t>
            </a:r>
            <a:endParaRPr sz="20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31024" y="4462509"/>
            <a:ext cx="128195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Zbiranje</a:t>
            </a:r>
            <a:r>
              <a:rPr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64748B"/>
                </a:solidFill>
                <a:latin typeface="Plus Jakarta Sans"/>
              </a:rPr>
              <a:t>buč</a:t>
            </a:r>
            <a:endParaRPr sz="2000" b="0" i="0" u="none" dirty="0">
              <a:solidFill>
                <a:srgbClr val="64748B"/>
              </a:solidFill>
              <a:latin typeface="Plus Jakarta Sans"/>
            </a:endParaRPr>
          </a:p>
        </p:txBody>
      </p:sp>
      <p:pic>
        <p:nvPicPr>
          <p:cNvPr id="27" name="Slika 26">
            <a:extLst>
              <a:ext uri="{FF2B5EF4-FFF2-40B4-BE49-F238E27FC236}">
                <a16:creationId xmlns:a16="http://schemas.microsoft.com/office/drawing/2014/main" id="{754C0918-FCDA-753E-26BC-D96C98433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268" y="1727237"/>
            <a:ext cx="3283251" cy="2354029"/>
          </a:xfrm>
          <a:prstGeom prst="rect">
            <a:avLst/>
          </a:prstGeom>
        </p:spPr>
      </p:pic>
      <p:pic>
        <p:nvPicPr>
          <p:cNvPr id="29" name="Slika 28">
            <a:extLst>
              <a:ext uri="{FF2B5EF4-FFF2-40B4-BE49-F238E27FC236}">
                <a16:creationId xmlns:a16="http://schemas.microsoft.com/office/drawing/2014/main" id="{2398F7C7-31AE-C569-6426-685FCD3F24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955"/>
          <a:stretch>
            <a:fillRect/>
          </a:stretch>
        </p:blipFill>
        <p:spPr>
          <a:xfrm>
            <a:off x="4452523" y="1727237"/>
            <a:ext cx="3286954" cy="2343346"/>
          </a:xfrm>
          <a:prstGeom prst="rect">
            <a:avLst/>
          </a:prstGeom>
        </p:spPr>
      </p:pic>
      <p:pic>
        <p:nvPicPr>
          <p:cNvPr id="31" name="Slika 30">
            <a:extLst>
              <a:ext uri="{FF2B5EF4-FFF2-40B4-BE49-F238E27FC236}">
                <a16:creationId xmlns:a16="http://schemas.microsoft.com/office/drawing/2014/main" id="{88B74F10-7A42-D82D-62AF-444A3B5F62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820"/>
          <a:stretch>
            <a:fillRect/>
          </a:stretch>
        </p:blipFill>
        <p:spPr>
          <a:xfrm>
            <a:off x="8173841" y="1757442"/>
            <a:ext cx="1580200" cy="1861808"/>
          </a:xfrm>
          <a:prstGeom prst="rect">
            <a:avLst/>
          </a:prstGeom>
        </p:spPr>
      </p:pic>
      <p:pic>
        <p:nvPicPr>
          <p:cNvPr id="33" name="Slika 32">
            <a:extLst>
              <a:ext uri="{FF2B5EF4-FFF2-40B4-BE49-F238E27FC236}">
                <a16:creationId xmlns:a16="http://schemas.microsoft.com/office/drawing/2014/main" id="{EC35B58B-8608-5CD1-F3F7-E6BF23D52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2271" y="1757443"/>
            <a:ext cx="1603702" cy="18618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1B6010-045B-29DE-948A-D3CA07E3A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FD02F54-5B2D-25D2-D1A9-23787145BC22}"/>
              </a:ext>
            </a:extLst>
          </p:cNvPr>
          <p:cNvSpPr/>
          <p:nvPr/>
        </p:nvSpPr>
        <p:spPr>
          <a:xfrm>
            <a:off x="1389529" y="1199398"/>
            <a:ext cx="9305365" cy="5039477"/>
          </a:xfrm>
          <a:prstGeom prst="roundRect">
            <a:avLst>
              <a:gd name="adj" fmla="val 4615"/>
            </a:avLst>
          </a:prstGeom>
          <a:solidFill>
            <a:srgbClr val="0E0E12"/>
          </a:solidFill>
          <a:ln w="19050">
            <a:solidFill>
              <a:srgbClr val="2E2E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2E67DD-7660-4333-A3C6-5C793F3119F0}"/>
              </a:ext>
            </a:extLst>
          </p:cNvPr>
          <p:cNvSpPr txBox="1"/>
          <p:nvPr/>
        </p:nvSpPr>
        <p:spPr>
          <a:xfrm>
            <a:off x="609600" y="381000"/>
            <a:ext cx="404812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97316"/>
                </a:solidFill>
                <a:latin typeface="Plus Jakarta Sans"/>
              </a:rPr>
              <a:t>03 / POTEK IGRANJA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836F01-0285-679F-F802-F997B5D97AC6}"/>
              </a:ext>
            </a:extLst>
          </p:cNvPr>
          <p:cNvSpPr txBox="1"/>
          <p:nvPr/>
        </p:nvSpPr>
        <p:spPr>
          <a:xfrm>
            <a:off x="609600" y="619125"/>
            <a:ext cx="5188148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F8FAFC"/>
                </a:solidFill>
                <a:latin typeface="Cinzel"/>
              </a:rPr>
              <a:t>Igralna</a:t>
            </a:r>
            <a:r>
              <a:rPr sz="2700" b="1" i="0" u="none" dirty="0">
                <a:solidFill>
                  <a:srgbClr val="F8FAFC"/>
                </a:solidFill>
                <a:latin typeface="Cinzel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Cinzel"/>
              </a:rPr>
              <a:t>zanka</a:t>
            </a:r>
            <a:r>
              <a:rPr sz="2700" b="1" i="0" u="none" dirty="0">
                <a:solidFill>
                  <a:srgbClr val="F8FAFC"/>
                </a:solidFill>
                <a:latin typeface="Cinzel"/>
              </a:rPr>
              <a:t> in </a:t>
            </a:r>
            <a:r>
              <a:rPr sz="2700" b="1" i="0" u="none" dirty="0" err="1">
                <a:solidFill>
                  <a:srgbClr val="F8FAFC"/>
                </a:solidFill>
                <a:latin typeface="Cinzel"/>
              </a:rPr>
              <a:t>cilj</a:t>
            </a:r>
            <a:endParaRPr sz="2700" b="1" i="0" u="none" dirty="0">
              <a:solidFill>
                <a:srgbClr val="F8FAFC"/>
              </a:solidFill>
              <a:latin typeface="Cinze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23273B-06C6-36A4-DE83-256658B31FE9}"/>
              </a:ext>
            </a:extLst>
          </p:cNvPr>
          <p:cNvSpPr txBox="1"/>
          <p:nvPr/>
        </p:nvSpPr>
        <p:spPr>
          <a:xfrm>
            <a:off x="4561629" y="5658602"/>
            <a:ext cx="3068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Umikanje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zelenim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duhovom</a:t>
            </a:r>
            <a:endParaRPr sz="2000" b="0" i="0" u="none" dirty="0">
              <a:solidFill>
                <a:srgbClr val="64748B"/>
              </a:solidFill>
              <a:latin typeface="Plus Jakarta Sans"/>
            </a:endParaRPr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39B5EF1D-6015-A0F7-6EF2-AF8B3C412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447" y="1426834"/>
            <a:ext cx="6300602" cy="400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019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353C1D-7646-C638-EBB2-8F9F564DD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53B0405-382B-9B11-ACDD-98A4531839AC}"/>
              </a:ext>
            </a:extLst>
          </p:cNvPr>
          <p:cNvSpPr/>
          <p:nvPr/>
        </p:nvSpPr>
        <p:spPr>
          <a:xfrm>
            <a:off x="439271" y="1199398"/>
            <a:ext cx="11421035" cy="5039477"/>
          </a:xfrm>
          <a:prstGeom prst="roundRect">
            <a:avLst>
              <a:gd name="adj" fmla="val 4615"/>
            </a:avLst>
          </a:prstGeom>
          <a:solidFill>
            <a:srgbClr val="0E0E12"/>
          </a:solidFill>
          <a:ln w="19050">
            <a:solidFill>
              <a:srgbClr val="2E2E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2BC688-CB39-7B1F-9B29-2DDA07697FE7}"/>
              </a:ext>
            </a:extLst>
          </p:cNvPr>
          <p:cNvSpPr txBox="1"/>
          <p:nvPr/>
        </p:nvSpPr>
        <p:spPr>
          <a:xfrm>
            <a:off x="609600" y="381000"/>
            <a:ext cx="404812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97316"/>
                </a:solidFill>
                <a:latin typeface="Plus Jakarta Sans"/>
              </a:rPr>
              <a:t>03 / POTEK IGRANJA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BE2538-1B9D-EB52-B6EC-ED131500F63B}"/>
              </a:ext>
            </a:extLst>
          </p:cNvPr>
          <p:cNvSpPr txBox="1"/>
          <p:nvPr/>
        </p:nvSpPr>
        <p:spPr>
          <a:xfrm>
            <a:off x="609600" y="619125"/>
            <a:ext cx="440826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700" b="1" dirty="0" err="1">
                <a:solidFill>
                  <a:srgbClr val="F8FAFC"/>
                </a:solidFill>
                <a:latin typeface="Cinzel"/>
              </a:rPr>
              <a:t>C</a:t>
            </a:r>
            <a:r>
              <a:rPr sz="2700" b="1" i="0" u="none" dirty="0" err="1">
                <a:solidFill>
                  <a:srgbClr val="F8FAFC"/>
                </a:solidFill>
                <a:latin typeface="Cinzel"/>
              </a:rPr>
              <a:t>ilj</a:t>
            </a:r>
            <a:endParaRPr sz="2700" b="1" i="0" u="none" dirty="0">
              <a:solidFill>
                <a:srgbClr val="F8FAFC"/>
              </a:solidFill>
              <a:latin typeface="Cinze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DAD941-86C0-62DC-B9FD-6108B5FBB201}"/>
              </a:ext>
            </a:extLst>
          </p:cNvPr>
          <p:cNvSpPr txBox="1"/>
          <p:nvPr/>
        </p:nvSpPr>
        <p:spPr>
          <a:xfrm>
            <a:off x="1733967" y="5676801"/>
            <a:ext cx="883164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Cilje je da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igralec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postavi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vse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štiri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buče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na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kamnite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stebre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in s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tem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odpre</a:t>
            </a:r>
            <a:r>
              <a:rPr lang="en-US" sz="20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lang="en-US" sz="2000" b="0" i="0" u="none" dirty="0" err="1">
                <a:solidFill>
                  <a:srgbClr val="64748B"/>
                </a:solidFill>
                <a:latin typeface="Plus Jakarta Sans"/>
              </a:rPr>
              <a:t>vrata</a:t>
            </a:r>
            <a:endParaRPr sz="2000" b="0" i="0" u="none" dirty="0">
              <a:solidFill>
                <a:srgbClr val="64748B"/>
              </a:solidFill>
              <a:latin typeface="Plus Jakarta Sans"/>
            </a:endParaRPr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95CC4247-5D32-8D92-BC63-ED26E3045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49" y="1848881"/>
            <a:ext cx="5296539" cy="3405446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7AD0FA0B-5771-A645-DE88-921C1E280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227" y="1838616"/>
            <a:ext cx="4196680" cy="3415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5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2864494"/>
            <a:ext cx="4926955" cy="1619250"/>
          </a:xfrm>
          <a:prstGeom prst="roundRect">
            <a:avLst>
              <a:gd name="adj" fmla="val 7058"/>
            </a:avLst>
          </a:prstGeom>
          <a:solidFill>
            <a:srgbClr val="101014"/>
          </a:solidFill>
          <a:ln w="9525">
            <a:solidFill>
              <a:srgbClr val="1D1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765155" y="2826394"/>
            <a:ext cx="5817244" cy="1695450"/>
          </a:xfrm>
          <a:prstGeom prst="roundRect">
            <a:avLst>
              <a:gd name="adj" fmla="val 6741"/>
            </a:avLst>
          </a:prstGeom>
          <a:solidFill>
            <a:srgbClr val="110D19"/>
          </a:solidFill>
          <a:ln w="9525">
            <a:solidFill>
              <a:srgbClr val="291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126432"/>
            <a:ext cx="219075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280" y="3088332"/>
            <a:ext cx="219075" cy="171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381000"/>
            <a:ext cx="498157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A855F7"/>
                </a:solidFill>
                <a:latin typeface="Plus Jakarta Sans"/>
              </a:rPr>
              <a:t>04 / TEHNOLOGIJA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19125"/>
            <a:ext cx="6413301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8FAFC"/>
                </a:solidFill>
                <a:latin typeface="Cinzel"/>
              </a:rPr>
              <a:t>Tehnična izvedba in izzivi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050" y="3108282"/>
            <a:ext cx="1439177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1350" b="1" i="0" u="none" dirty="0" err="1">
                <a:solidFill>
                  <a:srgbClr val="F97316"/>
                </a:solidFill>
                <a:latin typeface="Plus Jakarta Sans"/>
              </a:rPr>
              <a:t>Programska</a:t>
            </a:r>
            <a:r>
              <a:rPr lang="en-US" sz="1350" b="1" i="0" u="none" dirty="0">
                <a:solidFill>
                  <a:srgbClr val="F97316"/>
                </a:solidFill>
                <a:latin typeface="Plus Jakarta Sans"/>
              </a:rPr>
              <a:t> </a:t>
            </a:r>
            <a:r>
              <a:rPr lang="en-US" sz="1350" b="1" i="0" u="none" dirty="0" err="1">
                <a:solidFill>
                  <a:srgbClr val="F97316"/>
                </a:solidFill>
                <a:latin typeface="Plus Jakarta Sans"/>
              </a:rPr>
              <a:t>oprema</a:t>
            </a:r>
            <a:endParaRPr sz="1350" b="1" i="0" u="none" dirty="0">
              <a:solidFill>
                <a:srgbClr val="F97316"/>
              </a:solidFill>
              <a:latin typeface="Plus Jakarta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17605" y="3064519"/>
            <a:ext cx="5874394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 dirty="0" err="1">
                <a:solidFill>
                  <a:srgbClr val="A855F7"/>
                </a:solidFill>
                <a:latin typeface="Plus Jakarta Sans"/>
              </a:rPr>
              <a:t>Glavni</a:t>
            </a:r>
            <a:r>
              <a:rPr sz="1350" b="1" i="0" u="none" dirty="0">
                <a:solidFill>
                  <a:srgbClr val="A855F7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A855F7"/>
                </a:solidFill>
                <a:latin typeface="Plus Jakarta Sans"/>
              </a:rPr>
              <a:t>razvojni</a:t>
            </a:r>
            <a:r>
              <a:rPr sz="1350" b="1" i="0" u="none" dirty="0">
                <a:solidFill>
                  <a:srgbClr val="A855F7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A855F7"/>
                </a:solidFill>
                <a:latin typeface="Plus Jakarta Sans"/>
              </a:rPr>
              <a:t>izziv</a:t>
            </a:r>
            <a:endParaRPr sz="1350" b="1" i="0" u="none" dirty="0">
              <a:solidFill>
                <a:srgbClr val="A855F7"/>
              </a:solidFill>
              <a:latin typeface="Plus Jakarta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03280" y="3397894"/>
            <a:ext cx="5436244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Natančno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usklajevanje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mehaničnega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preklopa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med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obema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oblikama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ter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logike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zasledovanja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E2E8F0"/>
                </a:solidFill>
                <a:latin typeface="Plus Jakarta Sans"/>
              </a:rPr>
              <a:t>sovražnikov</a:t>
            </a:r>
            <a:r>
              <a:rPr sz="1125" b="0" i="0" u="none" dirty="0">
                <a:solidFill>
                  <a:srgbClr val="E2E8F0"/>
                </a:solidFill>
                <a:latin typeface="Plus Jakarta San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3474094"/>
            <a:ext cx="55633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CBD5E1"/>
                </a:solidFill>
                <a:latin typeface="Plus Jakarta Sans"/>
              </a:rPr>
              <a:t>Razvojno okolje: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Unity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3769369"/>
            <a:ext cx="55633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CBD5E1"/>
                </a:solidFill>
                <a:latin typeface="Plus Jakarta Sans"/>
              </a:rPr>
              <a:t>Programski jezik: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C#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4064644"/>
            <a:ext cx="55633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CBD5E1"/>
                </a:solidFill>
                <a:latin typeface="Plus Jakarta Sans"/>
              </a:rPr>
              <a:t>Logika igralca: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Sistem za menjavo stanj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1304925"/>
            <a:ext cx="5100935" cy="4700289"/>
          </a:xfrm>
          <a:prstGeom prst="roundRect">
            <a:avLst>
              <a:gd name="adj" fmla="val 2431"/>
            </a:avLst>
          </a:prstGeom>
          <a:solidFill>
            <a:srgbClr val="101014"/>
          </a:solidFill>
          <a:ln w="9525">
            <a:solidFill>
              <a:srgbClr val="1D1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77235" y="1304925"/>
            <a:ext cx="5605164" cy="4700289"/>
          </a:xfrm>
          <a:prstGeom prst="roundRect">
            <a:avLst>
              <a:gd name="adj" fmla="val 2431"/>
            </a:avLst>
          </a:prstGeom>
          <a:solidFill>
            <a:srgbClr val="1D1219"/>
          </a:solidFill>
          <a:ln w="9525">
            <a:solidFill>
              <a:srgbClr val="452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381000"/>
            <a:ext cx="661987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97316"/>
                </a:solidFill>
                <a:latin typeface="Plus Jakarta Sans"/>
              </a:rPr>
              <a:t>05 / VIRI IN ZAKLJUČEK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19125"/>
            <a:ext cx="2171428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F8FAFC"/>
                </a:solidFill>
                <a:latin typeface="Cinzel"/>
              </a:rPr>
              <a:t>Uporaba</a:t>
            </a:r>
            <a:r>
              <a:rPr sz="2700" b="1" i="0" u="none" dirty="0">
                <a:solidFill>
                  <a:srgbClr val="F8FAFC"/>
                </a:solidFill>
                <a:latin typeface="Cinzel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Cinzel"/>
              </a:rPr>
              <a:t>orodij</a:t>
            </a:r>
            <a:endParaRPr sz="2700" b="1" i="0" u="none" dirty="0">
              <a:solidFill>
                <a:srgbClr val="F8FAFC"/>
              </a:solidFill>
              <a:latin typeface="Cinze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8675" y="1524000"/>
            <a:ext cx="611990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F8FAFC"/>
                </a:solidFill>
                <a:latin typeface="Plus Jakarta Sans"/>
              </a:rPr>
              <a:t>Transparentnost in viri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75" y="1847850"/>
            <a:ext cx="4758035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CBD5E1"/>
                </a:solidFill>
                <a:latin typeface="Plus Jakarta Sans"/>
              </a:rPr>
              <a:t>Uporaba</a:t>
            </a:r>
            <a:r>
              <a:rPr sz="2400" b="1" i="0" u="none" dirty="0">
                <a:solidFill>
                  <a:srgbClr val="CBD5E1"/>
                </a:solidFill>
                <a:latin typeface="Plus Jakarta Sans"/>
              </a:rPr>
              <a:t> AI </a:t>
            </a:r>
            <a:r>
              <a:rPr sz="2400" b="1" i="0" u="none" dirty="0" err="1">
                <a:solidFill>
                  <a:srgbClr val="CBD5E1"/>
                </a:solidFill>
                <a:latin typeface="Plus Jakarta Sans"/>
              </a:rPr>
              <a:t>orodij</a:t>
            </a:r>
            <a:r>
              <a:rPr sz="2400" b="1" i="0" u="none" dirty="0">
                <a:solidFill>
                  <a:srgbClr val="CBD5E1"/>
                </a:solidFill>
                <a:latin typeface="Plus Jakarta Sans"/>
              </a:rPr>
              <a:t>: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Pomagala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pri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idejni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zasnovi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,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odpravljanju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hroščev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v C#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ter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pripravi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predstavitvenega</a:t>
            </a:r>
            <a:r>
              <a:rPr sz="2400" b="0" i="0" u="none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sz="2400" b="0" i="0" u="none" dirty="0" err="1">
                <a:solidFill>
                  <a:srgbClr val="CBD5E1"/>
                </a:solidFill>
                <a:latin typeface="Plus Jakarta Sans"/>
              </a:rPr>
              <a:t>besedila</a:t>
            </a:r>
            <a:r>
              <a:rPr sz="1050" b="0" i="0" u="none" dirty="0">
                <a:solidFill>
                  <a:srgbClr val="CBD5E1"/>
                </a:solidFill>
                <a:latin typeface="Plus Jakarta Sans"/>
              </a:rPr>
              <a:t>.</a:t>
            </a:r>
            <a:endParaRPr lang="en-US" sz="1050" b="0" i="0" u="none" dirty="0">
              <a:solidFill>
                <a:srgbClr val="CBD5E1"/>
              </a:solidFill>
              <a:latin typeface="Plus Jakarta Sans"/>
            </a:endParaRPr>
          </a:p>
          <a:p>
            <a:r>
              <a:rPr lang="sl-SI" sz="2400" b="1" dirty="0">
                <a:solidFill>
                  <a:srgbClr val="CBD5E1"/>
                </a:solidFill>
                <a:latin typeface="Plus Jakarta Sans"/>
              </a:rPr>
              <a:t>Uporaba </a:t>
            </a:r>
            <a:r>
              <a:rPr lang="en-US" sz="2400" b="1" dirty="0" err="1">
                <a:solidFill>
                  <a:srgbClr val="CBD5E1"/>
                </a:solidFill>
                <a:latin typeface="Plus Jakarta Sans"/>
              </a:rPr>
              <a:t>tujih</a:t>
            </a:r>
            <a:r>
              <a:rPr lang="en-US" sz="2400" b="1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lang="en-US" sz="2400" b="1" dirty="0" err="1">
                <a:solidFill>
                  <a:srgbClr val="CBD5E1"/>
                </a:solidFill>
                <a:latin typeface="Plus Jakarta Sans"/>
              </a:rPr>
              <a:t>assetov</a:t>
            </a:r>
            <a:r>
              <a:rPr lang="sl-SI" sz="2400" b="1" dirty="0">
                <a:solidFill>
                  <a:srgbClr val="CBD5E1"/>
                </a:solidFill>
                <a:latin typeface="Plus Jakarta Sans"/>
              </a:rPr>
              <a:t>:</a:t>
            </a:r>
            <a:r>
              <a:rPr lang="en-US" sz="2400" b="1" dirty="0">
                <a:solidFill>
                  <a:srgbClr val="CBD5E1"/>
                </a:solidFill>
                <a:latin typeface="Plus Jakarta Sans"/>
              </a:rPr>
              <a:t> </a:t>
            </a:r>
            <a:r>
              <a:rPr lang="en-US" sz="2400" b="1" dirty="0" err="1">
                <a:solidFill>
                  <a:srgbClr val="CBD5E1"/>
                </a:solidFill>
                <a:latin typeface="Plus Jakarta Sans"/>
              </a:rPr>
              <a:t>ModernExteriors</a:t>
            </a:r>
            <a:endParaRPr sz="2400" b="0" i="0" u="none" dirty="0">
              <a:solidFill>
                <a:srgbClr val="CBD5E1"/>
              </a:solidFill>
              <a:latin typeface="Plus Jakarta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18512" y="1842671"/>
            <a:ext cx="4202048" cy="4924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200" b="1" i="0" u="none" dirty="0">
                <a:solidFill>
                  <a:srgbClr val="F97316"/>
                </a:solidFill>
                <a:latin typeface="Plus Jakarta Sans"/>
              </a:rPr>
              <a:t>Hvala za </a:t>
            </a:r>
            <a:r>
              <a:rPr sz="3200" b="1" i="0" u="none" dirty="0" err="1">
                <a:solidFill>
                  <a:srgbClr val="F97316"/>
                </a:solidFill>
                <a:latin typeface="Plus Jakarta Sans"/>
              </a:rPr>
              <a:t>vašo</a:t>
            </a:r>
            <a:r>
              <a:rPr sz="3200" b="1" i="0" u="none" dirty="0">
                <a:solidFill>
                  <a:srgbClr val="F97316"/>
                </a:solidFill>
                <a:latin typeface="Plus Jakarta Sans"/>
              </a:rPr>
              <a:t> </a:t>
            </a:r>
            <a:r>
              <a:rPr sz="3200" b="1" i="0" u="none" dirty="0" err="1">
                <a:solidFill>
                  <a:srgbClr val="F97316"/>
                </a:solidFill>
                <a:latin typeface="Plus Jakarta Sans"/>
              </a:rPr>
              <a:t>pozornost</a:t>
            </a:r>
            <a:r>
              <a:rPr sz="3200" b="1" i="0" u="none" dirty="0">
                <a:solidFill>
                  <a:srgbClr val="F97316"/>
                </a:solidFill>
                <a:latin typeface="Plus Jakarta Sans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214</Words>
  <Application>Microsoft Office PowerPoint</Application>
  <PresentationFormat>Širokozaslonsko</PresentationFormat>
  <Paragraphs>45</Paragraphs>
  <Slides>8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5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8</vt:i4>
      </vt:variant>
    </vt:vector>
  </HeadingPairs>
  <TitlesOfParts>
    <vt:vector size="14" baseType="lpstr">
      <vt:lpstr>JetBrains Mono</vt:lpstr>
      <vt:lpstr>Cinzel</vt:lpstr>
      <vt:lpstr>Calibri</vt:lpstr>
      <vt:lpstr>Arial</vt:lpstr>
      <vt:lpstr>Plus Jakarta Sans</vt:lpstr>
      <vt:lpstr>Office Theme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lastModifiedBy>Era 2</cp:lastModifiedBy>
  <cp:revision>1</cp:revision>
  <dcterms:created xsi:type="dcterms:W3CDTF">2013-01-27T09:14:16Z</dcterms:created>
  <dcterms:modified xsi:type="dcterms:W3CDTF">2026-10-25T21:10:36Z</dcterms:modified>
  <cp:category/>
</cp:coreProperties>
</file>